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58" r:id="rId6"/>
    <p:sldId id="261" r:id="rId7"/>
    <p:sldId id="262" r:id="rId8"/>
    <p:sldId id="264" r:id="rId9"/>
    <p:sldId id="265" r:id="rId10"/>
    <p:sldId id="266" r:id="rId11"/>
    <p:sldId id="267" r:id="rId12"/>
    <p:sldId id="268" r:id="rId13"/>
    <p:sldId id="269" r:id="rId14"/>
    <p:sldId id="270" r:id="rId15"/>
    <p:sldId id="271"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94660"/>
  </p:normalViewPr>
  <p:slideViewPr>
    <p:cSldViewPr snapToGrid="0">
      <p:cViewPr>
        <p:scale>
          <a:sx n="78" d="100"/>
          <a:sy n="78" d="100"/>
        </p:scale>
        <p:origin x="10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FCCE61-DEF7-4C3A-B8F1-1F029EED5D7D}" type="datetimeFigureOut">
              <a:rPr lang="en-US" smtClean="0"/>
              <a:t>5/21/2026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D7088-6921-41B1-B731-3CB0B428FE62}" type="slidenum">
              <a:rPr lang="en-US" smtClean="0"/>
              <a:t>‹#›</a:t>
            </a:fld>
            <a:endParaRPr lang="en-US"/>
          </a:p>
        </p:txBody>
      </p:sp>
    </p:spTree>
    <p:extLst>
      <p:ext uri="{BB962C8B-B14F-4D97-AF65-F5344CB8AC3E}">
        <p14:creationId xmlns:p14="http://schemas.microsoft.com/office/powerpoint/2010/main" val="1364613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D7088-6921-41B1-B731-3CB0B428FE62}" type="slidenum">
              <a:rPr lang="en-US" smtClean="0"/>
              <a:t>8</a:t>
            </a:fld>
            <a:endParaRPr lang="en-US"/>
          </a:p>
        </p:txBody>
      </p:sp>
    </p:spTree>
    <p:extLst>
      <p:ext uri="{BB962C8B-B14F-4D97-AF65-F5344CB8AC3E}">
        <p14:creationId xmlns:p14="http://schemas.microsoft.com/office/powerpoint/2010/main" val="951936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D7088-6921-41B1-B731-3CB0B428FE62}" type="slidenum">
              <a:rPr lang="en-US" smtClean="0"/>
              <a:t>9</a:t>
            </a:fld>
            <a:endParaRPr lang="en-US"/>
          </a:p>
        </p:txBody>
      </p:sp>
    </p:spTree>
    <p:extLst>
      <p:ext uri="{BB962C8B-B14F-4D97-AF65-F5344CB8AC3E}">
        <p14:creationId xmlns:p14="http://schemas.microsoft.com/office/powerpoint/2010/main" val="799971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0DEE-517E-F79C-3D11-6532275293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3BB249-8536-558E-37EE-02580A92A6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0A2A10-3C50-1EBD-0C9D-58909438B90C}"/>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086D49E9-FFED-A1DD-9E96-84528ACC5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285A0-EE78-7C36-5BF6-8DD1458E14B6}"/>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4229124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1CA0-8B36-5DF5-6464-DAD6E92621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D3A2E-54D1-FBB6-7370-7600134F1A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4C540-EADF-4C40-39D5-5271B01AA381}"/>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3996F434-518E-E902-C8D4-8D2A872277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6DDC4B-6C02-2582-FB08-2A919E32EB7B}"/>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393410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E4EEB-8896-1D7C-0755-5E5B21B1B0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A431948-1D6A-39E7-BE19-7395A358317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015942-98A8-FD20-8CB0-98C9A3845EB6}"/>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3B90120E-1394-BFB8-FB74-32A87A4F1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1E901-F865-DC1C-36A2-CD89AFDA621C}"/>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3147974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B94A1-7C4E-5F33-1BD2-931573B0CD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37CA8-738C-FAA7-A456-C356EF8D44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CE22DDA-CF98-2A67-9BE0-CF837CDD39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8749E1-79D5-FC6E-EE29-09B46590CF16}"/>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6" name="Footer Placeholder 5">
            <a:extLst>
              <a:ext uri="{FF2B5EF4-FFF2-40B4-BE49-F238E27FC236}">
                <a16:creationId xmlns:a16="http://schemas.microsoft.com/office/drawing/2014/main" id="{8EBAFA85-6737-3B40-99F5-0821694B58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11A948-8C19-BE91-C1F8-CA00145270D8}"/>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3204630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C21FD-9261-615E-9D52-DEAD32B5B9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0160A5-1AF4-C00C-A62B-9963B03797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641076-E3C6-EFBB-B62F-F6C786C9E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918386-FD4D-8AD7-8EC3-DC41DD5FE0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AD69C7-C7F3-EBE4-DECB-09F359AE1B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9A235-6DFA-AD95-3296-598DBD602B08}"/>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8" name="Footer Placeholder 7">
            <a:extLst>
              <a:ext uri="{FF2B5EF4-FFF2-40B4-BE49-F238E27FC236}">
                <a16:creationId xmlns:a16="http://schemas.microsoft.com/office/drawing/2014/main" id="{65EA2668-293E-4812-B714-597C4D91DD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C9B922-5B42-6231-AAEB-534011FD882D}"/>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206859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FF582-05BE-DB84-B4C7-AB0735C8DF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797A42-9FF6-C116-D1B1-5DDDEC5B900A}"/>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4" name="Footer Placeholder 3">
            <a:extLst>
              <a:ext uri="{FF2B5EF4-FFF2-40B4-BE49-F238E27FC236}">
                <a16:creationId xmlns:a16="http://schemas.microsoft.com/office/drawing/2014/main" id="{1E327A6E-6AAD-3908-0134-757105DD4E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ADB003-DD29-6E70-1454-62C8766EB787}"/>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1017633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B0A2C6-F8B9-229B-5092-D31B193974A3}"/>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3" name="Footer Placeholder 2">
            <a:extLst>
              <a:ext uri="{FF2B5EF4-FFF2-40B4-BE49-F238E27FC236}">
                <a16:creationId xmlns:a16="http://schemas.microsoft.com/office/drawing/2014/main" id="{70E96C72-9833-1D4C-EBB2-5977AEB081C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CD59A4-A810-3BF6-5F76-14041B501839}"/>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1216993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9CB3-A236-1212-CA46-5491244615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A3A8DD-1B7F-8AE4-9575-82EAF88F8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B34AAF-E71C-EDBF-8D98-0A6C311D5E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546CAD-0138-3E10-0E6E-7F23CEC32B7C}"/>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6" name="Footer Placeholder 5">
            <a:extLst>
              <a:ext uri="{FF2B5EF4-FFF2-40B4-BE49-F238E27FC236}">
                <a16:creationId xmlns:a16="http://schemas.microsoft.com/office/drawing/2014/main" id="{D7900ECB-E0E3-5EF3-D646-73073CCDB9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2840F-BB30-5760-71F4-41F5C47C7D2B}"/>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2928325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1D84F-4529-CDDC-F75B-D5086C3E4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A2871A-8CD2-BA1E-5073-A2EBC5597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4100EA-6792-307B-8036-EA7B1481D6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1E80C-EBEF-9078-ECED-EEE692CECE1B}"/>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6" name="Footer Placeholder 5">
            <a:extLst>
              <a:ext uri="{FF2B5EF4-FFF2-40B4-BE49-F238E27FC236}">
                <a16:creationId xmlns:a16="http://schemas.microsoft.com/office/drawing/2014/main" id="{57F7F1AA-0CCD-BCFA-442D-9978EE605F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9F5614-A349-8EC3-0F22-2E68174E3029}"/>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2291523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28629-F7E9-2A34-CB96-16FA549CC1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7D62AC-A39B-D25E-764F-A47F967815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1C116-7610-5E21-7A18-3577E898A45B}"/>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FECCE7EA-3CCF-B4E9-C364-2F83DFA376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8C44D-9517-DA51-568F-C031D2EF061F}"/>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4195229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D2C9B2-80B7-7D28-572F-7A04FFE870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A18823-E90A-0099-7883-E78C4C5190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E0FCCB-5DC1-1EFC-9001-5D9E85F0F7FD}"/>
              </a:ext>
            </a:extLst>
          </p:cNvPr>
          <p:cNvSpPr>
            <a:spLocks noGrp="1"/>
          </p:cNvSpPr>
          <p:nvPr>
            <p:ph type="dt" sz="half" idx="10"/>
          </p:nvPr>
        </p:nvSpPr>
        <p:spPr/>
        <p:txBody>
          <a:body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3BD17115-6CF7-4824-07EE-9D2054F6D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49C8E4-508D-353C-4FC2-FE745085C214}"/>
              </a:ext>
            </a:extLst>
          </p:cNvPr>
          <p:cNvSpPr>
            <a:spLocks noGrp="1"/>
          </p:cNvSpPr>
          <p:nvPr>
            <p:ph type="sldNum" sz="quarter" idx="12"/>
          </p:nvPr>
        </p:nvSpPr>
        <p:spPr/>
        <p:txBody>
          <a:bodyPr/>
          <a:lstStyle/>
          <a:p>
            <a:fld id="{2BFA0436-4F56-4C62-A055-782932BCA352}" type="slidenum">
              <a:rPr lang="en-US" smtClean="0"/>
              <a:t>‹#›</a:t>
            </a:fld>
            <a:endParaRPr lang="en-US"/>
          </a:p>
        </p:txBody>
      </p:sp>
    </p:spTree>
    <p:extLst>
      <p:ext uri="{BB962C8B-B14F-4D97-AF65-F5344CB8AC3E}">
        <p14:creationId xmlns:p14="http://schemas.microsoft.com/office/powerpoint/2010/main" val="2260442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BE1641-E05C-DB3F-12C2-4B5CF79A6B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983DFD-1420-5F12-1452-E10E6D27C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96B7F4-3F41-682F-98BC-56512C59C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4EAD1-7267-4D45-919C-22350B9A5D6B}" type="datetimeFigureOut">
              <a:rPr lang="en-US" smtClean="0"/>
              <a:t>5/21/2026</a:t>
            </a:fld>
            <a:endParaRPr lang="en-US"/>
          </a:p>
        </p:txBody>
      </p:sp>
      <p:sp>
        <p:nvSpPr>
          <p:cNvPr id="5" name="Footer Placeholder 4">
            <a:extLst>
              <a:ext uri="{FF2B5EF4-FFF2-40B4-BE49-F238E27FC236}">
                <a16:creationId xmlns:a16="http://schemas.microsoft.com/office/drawing/2014/main" id="{F3708FDA-8D1F-9E26-9109-954F7236B8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32D3FED-9C6E-2D6C-B7BD-9F77639461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FA0436-4F56-4C62-A055-782932BCA352}" type="slidenum">
              <a:rPr lang="en-US" smtClean="0"/>
              <a:t>‹#›</a:t>
            </a:fld>
            <a:endParaRPr lang="en-US"/>
          </a:p>
        </p:txBody>
      </p:sp>
    </p:spTree>
    <p:extLst>
      <p:ext uri="{BB962C8B-B14F-4D97-AF65-F5344CB8AC3E}">
        <p14:creationId xmlns:p14="http://schemas.microsoft.com/office/powerpoint/2010/main" val="4197859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52FD5-6C16-CD5D-D3C6-F2EFE7F1BD1F}"/>
              </a:ext>
            </a:extLst>
          </p:cNvPr>
          <p:cNvSpPr>
            <a:spLocks noGrp="1"/>
          </p:cNvSpPr>
          <p:nvPr>
            <p:ph type="ctrTitle"/>
          </p:nvPr>
        </p:nvSpPr>
        <p:spPr/>
        <p:txBody>
          <a:bodyPr>
            <a:normAutofit fontScale="90000"/>
          </a:bodyPr>
          <a:lstStyle/>
          <a:p>
            <a:r>
              <a:rPr lang="en-US" dirty="0"/>
              <a:t>AI STUDY AND PLACEMENT PLANNER</a:t>
            </a:r>
            <a:br>
              <a:rPr lang="en-US" dirty="0"/>
            </a:br>
            <a:endParaRPr lang="en-US" dirty="0"/>
          </a:p>
        </p:txBody>
      </p:sp>
      <p:sp>
        <p:nvSpPr>
          <p:cNvPr id="3" name="Subtitle 2">
            <a:extLst>
              <a:ext uri="{FF2B5EF4-FFF2-40B4-BE49-F238E27FC236}">
                <a16:creationId xmlns:a16="http://schemas.microsoft.com/office/drawing/2014/main" id="{FF7B37E6-345B-D613-3313-BD30EF86564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39813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39968-40E1-F916-5A40-B48B2E06E1FD}"/>
              </a:ext>
            </a:extLst>
          </p:cNvPr>
          <p:cNvSpPr>
            <a:spLocks noGrp="1"/>
          </p:cNvSpPr>
          <p:nvPr>
            <p:ph type="title"/>
          </p:nvPr>
        </p:nvSpPr>
        <p:spPr/>
        <p:txBody>
          <a:bodyPr/>
          <a:lstStyle/>
          <a:p>
            <a:r>
              <a:rPr lang="en-US" dirty="0"/>
              <a:t>INTRODUCTION</a:t>
            </a:r>
            <a:br>
              <a:rPr lang="en-US" dirty="0"/>
            </a:br>
            <a:endParaRPr lang="en-US" dirty="0"/>
          </a:p>
        </p:txBody>
      </p:sp>
      <p:sp>
        <p:nvSpPr>
          <p:cNvPr id="3" name="Content Placeholder 2">
            <a:extLst>
              <a:ext uri="{FF2B5EF4-FFF2-40B4-BE49-F238E27FC236}">
                <a16:creationId xmlns:a16="http://schemas.microsoft.com/office/drawing/2014/main" id="{5996A969-C3FE-7EF7-4A24-DB2A978228D7}"/>
              </a:ext>
            </a:extLst>
          </p:cNvPr>
          <p:cNvSpPr>
            <a:spLocks noGrp="1"/>
          </p:cNvSpPr>
          <p:nvPr>
            <p:ph idx="1"/>
          </p:nvPr>
        </p:nvSpPr>
        <p:spPr/>
        <p:txBody>
          <a:bodyPr/>
          <a:lstStyle/>
          <a:p>
            <a:r>
              <a:rPr lang="en-US" dirty="0"/>
              <a:t>AI Study &amp; Placement Planner is a full-stack AI-powered web application designed to help students manage academics and placement preparation on a single platform. The project was developed to solve the problem of using multiple separate applications for study planning, coding practice, productivity tracking, and interview management. It provides intelligent recommendations and performance analytics to help students improve productivity and learning efficiency.</a:t>
            </a:r>
          </a:p>
        </p:txBody>
      </p:sp>
    </p:spTree>
    <p:extLst>
      <p:ext uri="{BB962C8B-B14F-4D97-AF65-F5344CB8AC3E}">
        <p14:creationId xmlns:p14="http://schemas.microsoft.com/office/powerpoint/2010/main" val="3452998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04335-E47F-466F-6D96-6196D8F694BB}"/>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E9DEFDC1-0CD8-99D5-BD12-5B674D22ABA3}"/>
              </a:ext>
            </a:extLst>
          </p:cNvPr>
          <p:cNvSpPr>
            <a:spLocks noGrp="1"/>
          </p:cNvSpPr>
          <p:nvPr>
            <p:ph idx="1"/>
          </p:nvPr>
        </p:nvSpPr>
        <p:spPr/>
        <p:txBody>
          <a:bodyPr>
            <a:normAutofit lnSpcReduction="10000"/>
          </a:bodyPr>
          <a:lstStyle/>
          <a:p>
            <a:r>
              <a:rPr lang="en-US" dirty="0"/>
              <a:t>Students use multiple applications for study planning, coding practice, placement preparation, and productivity tracking. </a:t>
            </a:r>
          </a:p>
          <a:p>
            <a:r>
              <a:rPr lang="en-US" dirty="0"/>
              <a:t>Managing different platforms becomes time-consuming and unorganized. </a:t>
            </a:r>
          </a:p>
          <a:p>
            <a:r>
              <a:rPr lang="en-US" dirty="0"/>
              <a:t>Existing systems lack centralized management and intelligent guidance. </a:t>
            </a:r>
          </a:p>
          <a:p>
            <a:r>
              <a:rPr lang="en-US" dirty="0"/>
              <a:t>Students face difficulty tracking progress and identifying weak areas. </a:t>
            </a:r>
          </a:p>
          <a:p>
            <a:r>
              <a:rPr lang="en-US" dirty="0"/>
              <a:t>There is a need for a single AI-powered platform that provides smart recommendations, productivity tracking, and efficient study management. </a:t>
            </a:r>
          </a:p>
          <a:p>
            <a:endParaRPr lang="en-US" dirty="0"/>
          </a:p>
        </p:txBody>
      </p:sp>
    </p:spTree>
    <p:extLst>
      <p:ext uri="{BB962C8B-B14F-4D97-AF65-F5344CB8AC3E}">
        <p14:creationId xmlns:p14="http://schemas.microsoft.com/office/powerpoint/2010/main" val="3394791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366FB-B022-0EC7-7935-F1CA3D3334AE}"/>
              </a:ext>
            </a:extLst>
          </p:cNvPr>
          <p:cNvSpPr>
            <a:spLocks noGrp="1"/>
          </p:cNvSpPr>
          <p:nvPr>
            <p:ph type="title"/>
          </p:nvPr>
        </p:nvSpPr>
        <p:spPr/>
        <p:txBody>
          <a:bodyPr/>
          <a:lstStyle/>
          <a:p>
            <a:r>
              <a:rPr lang="en-US" dirty="0"/>
              <a:t>AIM</a:t>
            </a:r>
            <a:br>
              <a:rPr lang="en-US" dirty="0"/>
            </a:br>
            <a:endParaRPr lang="en-US" dirty="0"/>
          </a:p>
        </p:txBody>
      </p:sp>
      <p:sp>
        <p:nvSpPr>
          <p:cNvPr id="3" name="Content Placeholder 2">
            <a:extLst>
              <a:ext uri="{FF2B5EF4-FFF2-40B4-BE49-F238E27FC236}">
                <a16:creationId xmlns:a16="http://schemas.microsoft.com/office/drawing/2014/main" id="{09F540EB-E0BE-31D7-EDFE-8EE30614FF00}"/>
              </a:ext>
            </a:extLst>
          </p:cNvPr>
          <p:cNvSpPr>
            <a:spLocks noGrp="1"/>
          </p:cNvSpPr>
          <p:nvPr>
            <p:ph idx="1"/>
          </p:nvPr>
        </p:nvSpPr>
        <p:spPr/>
        <p:txBody>
          <a:bodyPr/>
          <a:lstStyle/>
          <a:p>
            <a:r>
              <a:rPr lang="en-US" dirty="0"/>
              <a:t>To develop a centralized platform for study and placement management. </a:t>
            </a:r>
          </a:p>
          <a:p>
            <a:r>
              <a:rPr lang="en-US" dirty="0"/>
              <a:t>To help students organize academic and placement preparation activities efficiently. </a:t>
            </a:r>
          </a:p>
          <a:p>
            <a:r>
              <a:rPr lang="en-US" dirty="0"/>
              <a:t>To track coding progress, skills, and productivity. </a:t>
            </a:r>
          </a:p>
          <a:p>
            <a:r>
              <a:rPr lang="en-US" dirty="0"/>
              <a:t>To provide AI-based personalized recommendations for improvement. </a:t>
            </a:r>
          </a:p>
          <a:p>
            <a:r>
              <a:rPr lang="en-US" dirty="0"/>
              <a:t>To improve student consistency, time management, and learning efficiency. </a:t>
            </a:r>
          </a:p>
          <a:p>
            <a:endParaRPr lang="en-US" dirty="0"/>
          </a:p>
        </p:txBody>
      </p:sp>
    </p:spTree>
    <p:extLst>
      <p:ext uri="{BB962C8B-B14F-4D97-AF65-F5344CB8AC3E}">
        <p14:creationId xmlns:p14="http://schemas.microsoft.com/office/powerpoint/2010/main" val="1639541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F7930-5332-0E76-997F-5DE221CF2430}"/>
              </a:ext>
            </a:extLst>
          </p:cNvPr>
          <p:cNvSpPr>
            <a:spLocks noGrp="1"/>
          </p:cNvSpPr>
          <p:nvPr>
            <p:ph type="title"/>
          </p:nvPr>
        </p:nvSpPr>
        <p:spPr/>
        <p:txBody>
          <a:bodyPr/>
          <a:lstStyle/>
          <a:p>
            <a:r>
              <a:rPr lang="en-US" dirty="0"/>
              <a:t>EXISTING SYSYEM</a:t>
            </a:r>
          </a:p>
        </p:txBody>
      </p:sp>
      <p:pic>
        <p:nvPicPr>
          <p:cNvPr id="5" name="Content Placeholder 4">
            <a:extLst>
              <a:ext uri="{FF2B5EF4-FFF2-40B4-BE49-F238E27FC236}">
                <a16:creationId xmlns:a16="http://schemas.microsoft.com/office/drawing/2014/main" id="{AC321D31-3CBB-49F5-7C8F-DAF731738374}"/>
              </a:ext>
            </a:extLst>
          </p:cNvPr>
          <p:cNvPicPr>
            <a:picLocks noGrp="1" noChangeAspect="1"/>
          </p:cNvPicPr>
          <p:nvPr>
            <p:ph idx="1"/>
          </p:nvPr>
        </p:nvPicPr>
        <p:blipFill>
          <a:blip r:embed="rId2"/>
          <a:stretch>
            <a:fillRect/>
          </a:stretch>
        </p:blipFill>
        <p:spPr>
          <a:xfrm>
            <a:off x="2612750" y="1825625"/>
            <a:ext cx="6966499" cy="4351338"/>
          </a:xfrm>
          <a:prstGeom prst="rect">
            <a:avLst/>
          </a:prstGeom>
        </p:spPr>
      </p:pic>
    </p:spTree>
    <p:extLst>
      <p:ext uri="{BB962C8B-B14F-4D97-AF65-F5344CB8AC3E}">
        <p14:creationId xmlns:p14="http://schemas.microsoft.com/office/powerpoint/2010/main" val="17319583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364D7-E6EF-4368-D3E3-9CA75CB97969}"/>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4DF7E3B3-FE1C-AED7-7E98-3F34D7E9F837}"/>
              </a:ext>
            </a:extLst>
          </p:cNvPr>
          <p:cNvSpPr>
            <a:spLocks noGrp="1"/>
          </p:cNvSpPr>
          <p:nvPr>
            <p:ph idx="1"/>
          </p:nvPr>
        </p:nvSpPr>
        <p:spPr/>
        <p:txBody>
          <a:bodyPr/>
          <a:lstStyle/>
          <a:p>
            <a:r>
              <a:rPr lang="en-US" dirty="0"/>
              <a:t>A centralized AI-powered platform for students. </a:t>
            </a:r>
          </a:p>
          <a:p>
            <a:r>
              <a:rPr lang="en-US" dirty="0"/>
              <a:t>Combines study planning, coding practice, and placement preparation in one system. </a:t>
            </a:r>
          </a:p>
          <a:p>
            <a:r>
              <a:rPr lang="en-US" dirty="0"/>
              <a:t>Tracks productivity, skills, and academic progress efficiently. </a:t>
            </a:r>
          </a:p>
          <a:p>
            <a:r>
              <a:rPr lang="en-US" dirty="0"/>
              <a:t>Uses Machine Learning to analyze student performance. </a:t>
            </a:r>
          </a:p>
          <a:p>
            <a:r>
              <a:rPr lang="en-US" dirty="0"/>
              <a:t>Provides personalized recommendations and performance analytics. </a:t>
            </a:r>
          </a:p>
          <a:p>
            <a:r>
              <a:rPr lang="en-US" dirty="0"/>
              <a:t>Reduces dependency on multiple applications and improves organization. </a:t>
            </a:r>
          </a:p>
          <a:p>
            <a:endParaRPr lang="en-US" dirty="0"/>
          </a:p>
        </p:txBody>
      </p:sp>
    </p:spTree>
    <p:extLst>
      <p:ext uri="{BB962C8B-B14F-4D97-AF65-F5344CB8AC3E}">
        <p14:creationId xmlns:p14="http://schemas.microsoft.com/office/powerpoint/2010/main" val="683912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32696-28AD-3930-78DA-BC5DFA94FD5C}"/>
              </a:ext>
            </a:extLst>
          </p:cNvPr>
          <p:cNvSpPr>
            <a:spLocks noGrp="1"/>
          </p:cNvSpPr>
          <p:nvPr>
            <p:ph type="title"/>
          </p:nvPr>
        </p:nvSpPr>
        <p:spPr/>
        <p:txBody>
          <a:bodyPr/>
          <a:lstStyle/>
          <a:p>
            <a:r>
              <a:rPr lang="en-US" dirty="0"/>
              <a:t>TECHNOLOGIES USED</a:t>
            </a:r>
          </a:p>
        </p:txBody>
      </p:sp>
      <p:sp>
        <p:nvSpPr>
          <p:cNvPr id="3" name="Content Placeholder 2">
            <a:extLst>
              <a:ext uri="{FF2B5EF4-FFF2-40B4-BE49-F238E27FC236}">
                <a16:creationId xmlns:a16="http://schemas.microsoft.com/office/drawing/2014/main" id="{14D7C08F-9CD5-C4E0-5368-9CC5020ABBBF}"/>
              </a:ext>
            </a:extLst>
          </p:cNvPr>
          <p:cNvSpPr>
            <a:spLocks noGrp="1"/>
          </p:cNvSpPr>
          <p:nvPr>
            <p:ph idx="1"/>
          </p:nvPr>
        </p:nvSpPr>
        <p:spPr/>
        <p:txBody>
          <a:bodyPr>
            <a:normAutofit fontScale="92500" lnSpcReduction="20000"/>
          </a:bodyPr>
          <a:lstStyle/>
          <a:p>
            <a:r>
              <a:rPr lang="en-US" b="1" dirty="0"/>
              <a:t>HTML</a:t>
            </a:r>
            <a:r>
              <a:rPr lang="en-US" dirty="0"/>
              <a:t> – Structure of the web pages </a:t>
            </a:r>
          </a:p>
          <a:p>
            <a:r>
              <a:rPr lang="en-US" b="1" dirty="0"/>
              <a:t>CSS</a:t>
            </a:r>
            <a:r>
              <a:rPr lang="en-US" dirty="0"/>
              <a:t> – Styling and user interface design </a:t>
            </a:r>
          </a:p>
          <a:p>
            <a:r>
              <a:rPr lang="en-US" b="1" dirty="0"/>
              <a:t>JavaScript</a:t>
            </a:r>
            <a:r>
              <a:rPr lang="en-US" dirty="0"/>
              <a:t> – Interactive frontend functionality </a:t>
            </a:r>
          </a:p>
          <a:p>
            <a:r>
              <a:rPr lang="en-US" b="1" dirty="0"/>
              <a:t>Python</a:t>
            </a:r>
            <a:r>
              <a:rPr lang="en-US" dirty="0"/>
              <a:t> – Core programming language </a:t>
            </a:r>
          </a:p>
          <a:p>
            <a:r>
              <a:rPr lang="en-US" b="1" dirty="0"/>
              <a:t>Flask</a:t>
            </a:r>
            <a:r>
              <a:rPr lang="en-US" dirty="0"/>
              <a:t> – Backend web framework </a:t>
            </a:r>
          </a:p>
          <a:p>
            <a:r>
              <a:rPr lang="en-US" b="1" dirty="0"/>
              <a:t>MongoDB</a:t>
            </a:r>
            <a:r>
              <a:rPr lang="en-US" dirty="0"/>
              <a:t> – Database management </a:t>
            </a:r>
          </a:p>
          <a:p>
            <a:r>
              <a:rPr lang="en-US" b="1" dirty="0"/>
              <a:t>scikit-learn</a:t>
            </a:r>
            <a:r>
              <a:rPr lang="en-US" dirty="0"/>
              <a:t> – Machine Learning and recommendation logic </a:t>
            </a:r>
          </a:p>
          <a:p>
            <a:r>
              <a:rPr lang="en-US" b="1" dirty="0"/>
              <a:t>pandas</a:t>
            </a:r>
            <a:r>
              <a:rPr lang="en-US" dirty="0"/>
              <a:t> – Data handling and preprocessing </a:t>
            </a:r>
          </a:p>
          <a:p>
            <a:r>
              <a:rPr lang="en-US" b="1" dirty="0"/>
              <a:t>NumPy</a:t>
            </a:r>
            <a:r>
              <a:rPr lang="en-US" dirty="0"/>
              <a:t> – Numerical and mathematical operations </a:t>
            </a:r>
          </a:p>
          <a:p>
            <a:r>
              <a:rPr lang="en-US" b="1" dirty="0"/>
              <a:t>Matplotlib</a:t>
            </a:r>
            <a:r>
              <a:rPr lang="en-US" dirty="0"/>
              <a:t> – Data visualization and analytics charts </a:t>
            </a:r>
          </a:p>
          <a:p>
            <a:endParaRPr lang="en-US" dirty="0"/>
          </a:p>
        </p:txBody>
      </p:sp>
    </p:spTree>
    <p:extLst>
      <p:ext uri="{BB962C8B-B14F-4D97-AF65-F5344CB8AC3E}">
        <p14:creationId xmlns:p14="http://schemas.microsoft.com/office/powerpoint/2010/main" val="1432365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EAB39-C6BE-4405-1D1E-66B5C8A48835}"/>
              </a:ext>
            </a:extLst>
          </p:cNvPr>
          <p:cNvSpPr>
            <a:spLocks noGrp="1"/>
          </p:cNvSpPr>
          <p:nvPr>
            <p:ph type="title"/>
          </p:nvPr>
        </p:nvSpPr>
        <p:spPr/>
        <p:txBody>
          <a:bodyPr/>
          <a:lstStyle/>
          <a:p>
            <a:r>
              <a:rPr lang="en-US" dirty="0"/>
              <a:t>SYSTEM ARCHITECTURE</a:t>
            </a:r>
          </a:p>
        </p:txBody>
      </p:sp>
      <p:pic>
        <p:nvPicPr>
          <p:cNvPr id="5" name="Content Placeholder 4">
            <a:extLst>
              <a:ext uri="{FF2B5EF4-FFF2-40B4-BE49-F238E27FC236}">
                <a16:creationId xmlns:a16="http://schemas.microsoft.com/office/drawing/2014/main" id="{E4A2E192-AF26-656B-DBE3-217DB3614283}"/>
              </a:ext>
            </a:extLst>
          </p:cNvPr>
          <p:cNvPicPr>
            <a:picLocks noGrp="1" noChangeAspect="1"/>
          </p:cNvPicPr>
          <p:nvPr>
            <p:ph idx="1"/>
          </p:nvPr>
        </p:nvPicPr>
        <p:blipFill>
          <a:blip r:embed="rId3"/>
          <a:stretch>
            <a:fillRect/>
          </a:stretch>
        </p:blipFill>
        <p:spPr>
          <a:xfrm>
            <a:off x="838200" y="1972545"/>
            <a:ext cx="10545476" cy="4069025"/>
          </a:xfrm>
          <a:prstGeom prst="rect">
            <a:avLst/>
          </a:prstGeom>
        </p:spPr>
      </p:pic>
    </p:spTree>
    <p:extLst>
      <p:ext uri="{BB962C8B-B14F-4D97-AF65-F5344CB8AC3E}">
        <p14:creationId xmlns:p14="http://schemas.microsoft.com/office/powerpoint/2010/main" val="2174007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F425C-91ED-5C23-2243-01B9AA7C4CE5}"/>
              </a:ext>
            </a:extLst>
          </p:cNvPr>
          <p:cNvSpPr>
            <a:spLocks noGrp="1"/>
          </p:cNvSpPr>
          <p:nvPr>
            <p:ph type="title"/>
          </p:nvPr>
        </p:nvSpPr>
        <p:spPr>
          <a:xfrm>
            <a:off x="473529" y="97971"/>
            <a:ext cx="10880271" cy="1592717"/>
          </a:xfrm>
        </p:spPr>
        <p:txBody>
          <a:bodyPr/>
          <a:lstStyle/>
          <a:p>
            <a:r>
              <a:rPr lang="en-US" dirty="0"/>
              <a:t>MODELS AND FEATURES</a:t>
            </a:r>
          </a:p>
        </p:txBody>
      </p:sp>
      <p:sp>
        <p:nvSpPr>
          <p:cNvPr id="3" name="Content Placeholder 2">
            <a:extLst>
              <a:ext uri="{FF2B5EF4-FFF2-40B4-BE49-F238E27FC236}">
                <a16:creationId xmlns:a16="http://schemas.microsoft.com/office/drawing/2014/main" id="{A7AAA2BD-E871-807E-4D06-720CBC1BD6D7}"/>
              </a:ext>
            </a:extLst>
          </p:cNvPr>
          <p:cNvSpPr>
            <a:spLocks noGrp="1"/>
          </p:cNvSpPr>
          <p:nvPr>
            <p:ph idx="1"/>
          </p:nvPr>
        </p:nvSpPr>
        <p:spPr>
          <a:xfrm>
            <a:off x="571500" y="1387929"/>
            <a:ext cx="11372850" cy="5216978"/>
          </a:xfrm>
        </p:spPr>
        <p:txBody>
          <a:bodyPr>
            <a:normAutofit fontScale="77500" lnSpcReduction="20000"/>
          </a:bodyPr>
          <a:lstStyle/>
          <a:p>
            <a:r>
              <a:rPr lang="en-US" b="1" dirty="0"/>
              <a:t>1. Study Planner</a:t>
            </a:r>
          </a:p>
          <a:p>
            <a:r>
              <a:rPr lang="en-US" dirty="0"/>
              <a:t>Helps students manage daily study schedules and tasks. </a:t>
            </a:r>
          </a:p>
          <a:p>
            <a:r>
              <a:rPr lang="en-US" b="1" dirty="0"/>
              <a:t>2. Coding Tracker</a:t>
            </a:r>
          </a:p>
          <a:p>
            <a:r>
              <a:rPr lang="en-US" dirty="0"/>
              <a:t>Tracks coding practice, solved problems, and consistency. </a:t>
            </a:r>
          </a:p>
          <a:p>
            <a:r>
              <a:rPr lang="en-US" b="1" dirty="0"/>
              <a:t>3. Skill Tracker</a:t>
            </a:r>
          </a:p>
          <a:p>
            <a:r>
              <a:rPr lang="en-US" dirty="0"/>
              <a:t>Monitors progress in technical skills and subjects. </a:t>
            </a:r>
          </a:p>
          <a:p>
            <a:r>
              <a:rPr lang="en-US" b="1" dirty="0"/>
              <a:t>4. Placement Preparation Module</a:t>
            </a:r>
          </a:p>
          <a:p>
            <a:r>
              <a:rPr lang="en-US" dirty="0"/>
              <a:t>Manages aptitude preparation, interview schedules, and placement activities. </a:t>
            </a:r>
          </a:p>
          <a:p>
            <a:r>
              <a:rPr lang="en-US" b="1" dirty="0"/>
              <a:t>5. AI Recommendation Engine</a:t>
            </a:r>
          </a:p>
          <a:p>
            <a:r>
              <a:rPr lang="en-US" dirty="0"/>
              <a:t>Analyzes student performance and provides personalized study recommendations. </a:t>
            </a:r>
          </a:p>
          <a:p>
            <a:r>
              <a:rPr lang="en-US" b="1" dirty="0"/>
              <a:t>6. Analytics Dashboard</a:t>
            </a:r>
          </a:p>
          <a:p>
            <a:r>
              <a:rPr lang="en-US" dirty="0"/>
              <a:t>Displays productivity graphs, progress charts, and performance analytics. </a:t>
            </a:r>
          </a:p>
          <a:p>
            <a:r>
              <a:rPr lang="en-US" b="1" dirty="0"/>
              <a:t>7. Productivity Tracker</a:t>
            </a:r>
          </a:p>
          <a:p>
            <a:r>
              <a:rPr lang="en-US" dirty="0"/>
              <a:t>Tracks study hours, completed tasks, and overall consistency.</a:t>
            </a:r>
          </a:p>
          <a:p>
            <a:endParaRPr lang="en-US" dirty="0"/>
          </a:p>
        </p:txBody>
      </p:sp>
    </p:spTree>
    <p:extLst>
      <p:ext uri="{BB962C8B-B14F-4D97-AF65-F5344CB8AC3E}">
        <p14:creationId xmlns:p14="http://schemas.microsoft.com/office/powerpoint/2010/main" val="980673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BFCA0-9F90-55F8-8427-65AE7D28D3A4}"/>
              </a:ext>
            </a:extLst>
          </p:cNvPr>
          <p:cNvSpPr>
            <a:spLocks noGrp="1"/>
          </p:cNvSpPr>
          <p:nvPr>
            <p:ph type="title"/>
          </p:nvPr>
        </p:nvSpPr>
        <p:spPr>
          <a:xfrm>
            <a:off x="838200" y="365126"/>
            <a:ext cx="8575221" cy="565604"/>
          </a:xfrm>
        </p:spPr>
        <p:txBody>
          <a:bodyPr>
            <a:normAutofit fontScale="90000"/>
          </a:bodyPr>
          <a:lstStyle/>
          <a:p>
            <a:r>
              <a:rPr lang="en-US" dirty="0"/>
              <a:t>AI/ML WORKING</a:t>
            </a:r>
          </a:p>
        </p:txBody>
      </p:sp>
      <p:sp>
        <p:nvSpPr>
          <p:cNvPr id="3" name="Content Placeholder 2">
            <a:extLst>
              <a:ext uri="{FF2B5EF4-FFF2-40B4-BE49-F238E27FC236}">
                <a16:creationId xmlns:a16="http://schemas.microsoft.com/office/drawing/2014/main" id="{C3730018-BA33-108F-8294-7EAC5C64F0A7}"/>
              </a:ext>
            </a:extLst>
          </p:cNvPr>
          <p:cNvSpPr>
            <a:spLocks noGrp="1"/>
          </p:cNvSpPr>
          <p:nvPr>
            <p:ph idx="1"/>
          </p:nvPr>
        </p:nvSpPr>
        <p:spPr>
          <a:xfrm>
            <a:off x="636814" y="1216479"/>
            <a:ext cx="10716986" cy="4960484"/>
          </a:xfrm>
        </p:spPr>
        <p:txBody>
          <a:bodyPr>
            <a:normAutofit fontScale="25000" lnSpcReduction="20000"/>
          </a:bodyPr>
          <a:lstStyle/>
          <a:p>
            <a:r>
              <a:rPr lang="en-US" sz="4800" b="1" dirty="0"/>
              <a:t>Data Analyzed by AI</a:t>
            </a:r>
          </a:p>
          <a:p>
            <a:r>
              <a:rPr lang="en-US" sz="4800" dirty="0"/>
              <a:t>Study hours </a:t>
            </a:r>
          </a:p>
          <a:p>
            <a:r>
              <a:rPr lang="en-US" sz="4800" dirty="0"/>
              <a:t>Completed tasks </a:t>
            </a:r>
          </a:p>
          <a:p>
            <a:r>
              <a:rPr lang="en-US" sz="4800" dirty="0"/>
              <a:t>Coding consistency                                                           </a:t>
            </a:r>
          </a:p>
          <a:p>
            <a:r>
              <a:rPr lang="en-US" sz="4800" dirty="0"/>
              <a:t>Skill progress </a:t>
            </a:r>
          </a:p>
          <a:p>
            <a:r>
              <a:rPr lang="en-US" sz="4800" dirty="0"/>
              <a:t>Subject-wise performance </a:t>
            </a:r>
          </a:p>
          <a:p>
            <a:r>
              <a:rPr lang="en-US" sz="4800" dirty="0"/>
              <a:t>Productivity records </a:t>
            </a:r>
          </a:p>
          <a:p>
            <a:r>
              <a:rPr lang="en-US" sz="4800" b="1" dirty="0"/>
              <a:t>Working of the Recommendation System</a:t>
            </a:r>
          </a:p>
          <a:p>
            <a:r>
              <a:rPr lang="en-US" sz="4800" dirty="0"/>
              <a:t>The system collects and stores student activity data. </a:t>
            </a:r>
          </a:p>
          <a:p>
            <a:r>
              <a:rPr lang="en-US" sz="4800" dirty="0"/>
              <a:t>AI analyzes weak subjects and low productivity areas. </a:t>
            </a:r>
          </a:p>
          <a:p>
            <a:r>
              <a:rPr lang="en-US" sz="4800" dirty="0"/>
              <a:t>Machine Learning logic identifies performance patterns. </a:t>
            </a:r>
          </a:p>
          <a:p>
            <a:r>
              <a:rPr lang="en-US" sz="4800" dirty="0"/>
              <a:t>Personalized recommendations are generated based on analysis. </a:t>
            </a:r>
          </a:p>
          <a:p>
            <a:r>
              <a:rPr lang="en-US" sz="4800" b="1" dirty="0"/>
              <a:t>Example Recommendation</a:t>
            </a:r>
          </a:p>
          <a:p>
            <a:r>
              <a:rPr lang="en-US" sz="4800" dirty="0"/>
              <a:t>If DSA progress is low:</a:t>
            </a:r>
          </a:p>
          <a:p>
            <a:r>
              <a:rPr lang="en-US" sz="4800" dirty="0"/>
              <a:t>“Practice DSA for 1 hour today.”</a:t>
            </a:r>
          </a:p>
          <a:p>
            <a:r>
              <a:rPr lang="en-US" sz="4800" b="1" dirty="0"/>
              <a:t>ML Libraries Used</a:t>
            </a:r>
          </a:p>
          <a:p>
            <a:r>
              <a:rPr lang="en-US" sz="4800" b="1" dirty="0"/>
              <a:t>scikit-learn</a:t>
            </a:r>
            <a:r>
              <a:rPr lang="en-US" sz="4800" dirty="0"/>
              <a:t> – Recommendation and prediction logic </a:t>
            </a:r>
          </a:p>
          <a:p>
            <a:r>
              <a:rPr lang="en-US" sz="4800" b="1" dirty="0"/>
              <a:t>pandas</a:t>
            </a:r>
            <a:r>
              <a:rPr lang="en-US" sz="4800" dirty="0"/>
              <a:t> – Data preprocessing and analysis </a:t>
            </a:r>
          </a:p>
          <a:p>
            <a:r>
              <a:rPr lang="en-US" sz="4800" b="1" dirty="0"/>
              <a:t>NumPy</a:t>
            </a:r>
            <a:r>
              <a:rPr lang="en-US" sz="4800" dirty="0"/>
              <a:t> – Mathematical operations </a:t>
            </a:r>
          </a:p>
          <a:p>
            <a:r>
              <a:rPr lang="en-US" sz="4800" b="1" dirty="0"/>
              <a:t>Matplotlib</a:t>
            </a:r>
            <a:r>
              <a:rPr lang="en-US" sz="4800" dirty="0"/>
              <a:t> – Analytics and visualization graphs </a:t>
            </a:r>
          </a:p>
        </p:txBody>
      </p:sp>
    </p:spTree>
    <p:extLst>
      <p:ext uri="{BB962C8B-B14F-4D97-AF65-F5344CB8AC3E}">
        <p14:creationId xmlns:p14="http://schemas.microsoft.com/office/powerpoint/2010/main" val="593271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9EB20-7FB2-8107-92BF-FD68CE4C2FFC}"/>
              </a:ext>
            </a:extLst>
          </p:cNvPr>
          <p:cNvSpPr>
            <a:spLocks noGrp="1"/>
          </p:cNvSpPr>
          <p:nvPr>
            <p:ph type="title"/>
          </p:nvPr>
        </p:nvSpPr>
        <p:spPr/>
        <p:txBody>
          <a:bodyPr/>
          <a:lstStyle/>
          <a:p>
            <a:br>
              <a:rPr lang="en-US" dirty="0"/>
            </a:br>
            <a:endParaRPr lang="en-US" dirty="0"/>
          </a:p>
        </p:txBody>
      </p:sp>
      <p:pic>
        <p:nvPicPr>
          <p:cNvPr id="5" name="Content Placeholder 4">
            <a:extLst>
              <a:ext uri="{FF2B5EF4-FFF2-40B4-BE49-F238E27FC236}">
                <a16:creationId xmlns:a16="http://schemas.microsoft.com/office/drawing/2014/main" id="{D95F5378-F425-21CD-74C8-3798AC71B1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0729" y="305465"/>
            <a:ext cx="10238014" cy="6171561"/>
          </a:xfrm>
          <a:prstGeom prst="rect">
            <a:avLst/>
          </a:prstGeom>
        </p:spPr>
      </p:pic>
    </p:spTree>
    <p:extLst>
      <p:ext uri="{BB962C8B-B14F-4D97-AF65-F5344CB8AC3E}">
        <p14:creationId xmlns:p14="http://schemas.microsoft.com/office/powerpoint/2010/main" val="2233548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D6FE1-AE17-7A23-EAB7-2D7247FE87AB}"/>
              </a:ext>
            </a:extLst>
          </p:cNvPr>
          <p:cNvSpPr>
            <a:spLocks noGrp="1"/>
          </p:cNvSpPr>
          <p:nvPr>
            <p:ph type="title"/>
          </p:nvPr>
        </p:nvSpPr>
        <p:spPr/>
        <p:txBody>
          <a:bodyPr/>
          <a:lstStyle/>
          <a:p>
            <a:r>
              <a:rPr lang="en-US" b="1" dirty="0"/>
              <a:t>Workflow / Project Flow</a:t>
            </a:r>
            <a:br>
              <a:rPr lang="en-US" b="1" dirty="0"/>
            </a:br>
            <a:endParaRPr lang="en-US" dirty="0"/>
          </a:p>
        </p:txBody>
      </p:sp>
      <p:sp>
        <p:nvSpPr>
          <p:cNvPr id="3" name="Content Placeholder 2">
            <a:extLst>
              <a:ext uri="{FF2B5EF4-FFF2-40B4-BE49-F238E27FC236}">
                <a16:creationId xmlns:a16="http://schemas.microsoft.com/office/drawing/2014/main" id="{F785EF54-55AF-1997-098A-7586EA8CEA81}"/>
              </a:ext>
            </a:extLst>
          </p:cNvPr>
          <p:cNvSpPr>
            <a:spLocks noGrp="1"/>
          </p:cNvSpPr>
          <p:nvPr>
            <p:ph idx="1"/>
          </p:nvPr>
        </p:nvSpPr>
        <p:spPr/>
        <p:txBody>
          <a:bodyPr>
            <a:normAutofit fontScale="62500" lnSpcReduction="20000"/>
          </a:bodyPr>
          <a:lstStyle/>
          <a:p>
            <a:pPr marL="0" indent="0">
              <a:buNone/>
            </a:pPr>
            <a:endParaRPr lang="en-US" b="1" dirty="0"/>
          </a:p>
          <a:p>
            <a:r>
              <a:rPr lang="en-US" b="1" dirty="0"/>
              <a:t>Step 1</a:t>
            </a:r>
          </a:p>
          <a:p>
            <a:r>
              <a:rPr lang="en-US" dirty="0"/>
              <a:t>User enters study tasks, coding progress, and productivity data. </a:t>
            </a:r>
          </a:p>
          <a:p>
            <a:r>
              <a:rPr lang="en-US" b="1" dirty="0"/>
              <a:t>Step 2</a:t>
            </a:r>
          </a:p>
          <a:p>
            <a:r>
              <a:rPr lang="en-US" dirty="0"/>
              <a:t>Frontend sends the data to the Flask backend. </a:t>
            </a:r>
          </a:p>
          <a:p>
            <a:r>
              <a:rPr lang="en-US" b="1" dirty="0"/>
              <a:t>Step 3</a:t>
            </a:r>
          </a:p>
          <a:p>
            <a:r>
              <a:rPr lang="en-US" dirty="0"/>
              <a:t>Backend processes and stores the information in MongoDB. </a:t>
            </a:r>
          </a:p>
          <a:p>
            <a:r>
              <a:rPr lang="en-US" b="1" dirty="0"/>
              <a:t>Step 4</a:t>
            </a:r>
          </a:p>
          <a:p>
            <a:r>
              <a:rPr lang="en-US" dirty="0"/>
              <a:t>AI/ML module analyzes study patterns, weak areas, and productivity. </a:t>
            </a:r>
          </a:p>
          <a:p>
            <a:r>
              <a:rPr lang="en-US" b="1" dirty="0"/>
              <a:t>Step 5</a:t>
            </a:r>
          </a:p>
          <a:p>
            <a:r>
              <a:rPr lang="en-US" dirty="0"/>
              <a:t>Machine Learning logic generates personalized recommendations. </a:t>
            </a:r>
          </a:p>
          <a:p>
            <a:r>
              <a:rPr lang="en-US" b="1" dirty="0"/>
              <a:t>Step 6</a:t>
            </a:r>
          </a:p>
          <a:p>
            <a:r>
              <a:rPr lang="en-US" dirty="0"/>
              <a:t>Recommendations, analytics, and progress reports are displayed on the dashboard.</a:t>
            </a:r>
          </a:p>
          <a:p>
            <a:endParaRPr lang="en-US" dirty="0"/>
          </a:p>
        </p:txBody>
      </p:sp>
    </p:spTree>
    <p:extLst>
      <p:ext uri="{BB962C8B-B14F-4D97-AF65-F5344CB8AC3E}">
        <p14:creationId xmlns:p14="http://schemas.microsoft.com/office/powerpoint/2010/main" val="505595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E6C8B-6F7B-D6F3-46B6-BAFBFA515EE2}"/>
              </a:ext>
            </a:extLst>
          </p:cNvPr>
          <p:cNvSpPr>
            <a:spLocks noGrp="1"/>
          </p:cNvSpPr>
          <p:nvPr>
            <p:ph type="title"/>
          </p:nvPr>
        </p:nvSpPr>
        <p:spPr/>
        <p:txBody>
          <a:bodyPr/>
          <a:lstStyle/>
          <a:p>
            <a:r>
              <a:rPr lang="en-US" dirty="0"/>
              <a:t>UI</a:t>
            </a:r>
          </a:p>
        </p:txBody>
      </p:sp>
      <p:pic>
        <p:nvPicPr>
          <p:cNvPr id="5" name="Content Placeholder 4">
            <a:extLst>
              <a:ext uri="{FF2B5EF4-FFF2-40B4-BE49-F238E27FC236}">
                <a16:creationId xmlns:a16="http://schemas.microsoft.com/office/drawing/2014/main" id="{3AA7917C-1027-EF48-62B1-553870C8CF8D}"/>
              </a:ext>
            </a:extLst>
          </p:cNvPr>
          <p:cNvPicPr>
            <a:picLocks noGrp="1" noChangeAspect="1"/>
          </p:cNvPicPr>
          <p:nvPr>
            <p:ph idx="1"/>
          </p:nvPr>
        </p:nvPicPr>
        <p:blipFill>
          <a:blip r:embed="rId2"/>
          <a:stretch>
            <a:fillRect/>
          </a:stretch>
        </p:blipFill>
        <p:spPr>
          <a:xfrm>
            <a:off x="1295806" y="1494518"/>
            <a:ext cx="9391244" cy="4862346"/>
          </a:xfrm>
          <a:prstGeom prst="rect">
            <a:avLst/>
          </a:prstGeom>
        </p:spPr>
      </p:pic>
    </p:spTree>
    <p:extLst>
      <p:ext uri="{BB962C8B-B14F-4D97-AF65-F5344CB8AC3E}">
        <p14:creationId xmlns:p14="http://schemas.microsoft.com/office/powerpoint/2010/main" val="816646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880A4-12C9-C95A-0E73-26B472CED54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19E29A0B-B7F6-86C1-D821-481EE52AE0F1}"/>
              </a:ext>
            </a:extLst>
          </p:cNvPr>
          <p:cNvPicPr>
            <a:picLocks noGrp="1" noChangeAspect="1"/>
          </p:cNvPicPr>
          <p:nvPr>
            <p:ph idx="1"/>
          </p:nvPr>
        </p:nvPicPr>
        <p:blipFill>
          <a:blip r:embed="rId2"/>
          <a:stretch>
            <a:fillRect/>
          </a:stretch>
        </p:blipFill>
        <p:spPr>
          <a:xfrm>
            <a:off x="328086" y="376828"/>
            <a:ext cx="11101914" cy="5800135"/>
          </a:xfrm>
          <a:prstGeom prst="rect">
            <a:avLst/>
          </a:prstGeom>
        </p:spPr>
      </p:pic>
    </p:spTree>
    <p:extLst>
      <p:ext uri="{BB962C8B-B14F-4D97-AF65-F5344CB8AC3E}">
        <p14:creationId xmlns:p14="http://schemas.microsoft.com/office/powerpoint/2010/main" val="3277421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85A64-4286-C246-615F-BBD498899641}"/>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0E4C64F8-72F5-39E6-199F-6B52F688B55B}"/>
              </a:ext>
            </a:extLst>
          </p:cNvPr>
          <p:cNvSpPr>
            <a:spLocks noGrp="1"/>
          </p:cNvSpPr>
          <p:nvPr>
            <p:ph idx="1"/>
          </p:nvPr>
        </p:nvSpPr>
        <p:spPr/>
        <p:txBody>
          <a:bodyPr/>
          <a:lstStyle/>
          <a:p>
            <a:r>
              <a:rPr lang="en-US" dirty="0"/>
              <a:t>Centralized platform for study and placement management. Improves student productivity and time management. Provides AI-based personalized recommendations. Easy tracking of coding progress and skill development. Helps identify weak subjects and performance gaps. Reduces dependency on multiple applications. Interactive dashboard with analytics and visualization. User-friendly and efficient system for students.</a:t>
            </a:r>
          </a:p>
        </p:txBody>
      </p:sp>
    </p:spTree>
    <p:extLst>
      <p:ext uri="{BB962C8B-B14F-4D97-AF65-F5344CB8AC3E}">
        <p14:creationId xmlns:p14="http://schemas.microsoft.com/office/powerpoint/2010/main" val="2220995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1D2ED-7C28-CF1C-EE23-FEA64EC6FC42}"/>
              </a:ext>
            </a:extLst>
          </p:cNvPr>
          <p:cNvSpPr>
            <a:spLocks noGrp="1"/>
          </p:cNvSpPr>
          <p:nvPr>
            <p:ph type="title"/>
          </p:nvPr>
        </p:nvSpPr>
        <p:spPr/>
        <p:txBody>
          <a:bodyPr/>
          <a:lstStyle/>
          <a:p>
            <a:r>
              <a:rPr lang="en-US" dirty="0"/>
              <a:t>FUTURE SCOPE</a:t>
            </a:r>
          </a:p>
        </p:txBody>
      </p:sp>
      <p:sp>
        <p:nvSpPr>
          <p:cNvPr id="3" name="Content Placeholder 2">
            <a:extLst>
              <a:ext uri="{FF2B5EF4-FFF2-40B4-BE49-F238E27FC236}">
                <a16:creationId xmlns:a16="http://schemas.microsoft.com/office/drawing/2014/main" id="{61E4FC33-CA4F-94B6-E153-E7FBE4B8AF95}"/>
              </a:ext>
            </a:extLst>
          </p:cNvPr>
          <p:cNvSpPr>
            <a:spLocks noGrp="1"/>
          </p:cNvSpPr>
          <p:nvPr>
            <p:ph idx="1"/>
          </p:nvPr>
        </p:nvSpPr>
        <p:spPr/>
        <p:txBody>
          <a:bodyPr>
            <a:normAutofit lnSpcReduction="10000"/>
          </a:bodyPr>
          <a:lstStyle/>
          <a:p>
            <a:r>
              <a:rPr lang="en-US" dirty="0"/>
              <a:t>Integration of AI chatbot for student assistance. </a:t>
            </a:r>
          </a:p>
          <a:p>
            <a:r>
              <a:rPr lang="en-US" dirty="0"/>
              <a:t>Resume analyzer for placement preparation. </a:t>
            </a:r>
          </a:p>
          <a:p>
            <a:r>
              <a:rPr lang="en-US" dirty="0"/>
              <a:t>Notification and reminder system for tasks and interviews. </a:t>
            </a:r>
          </a:p>
          <a:p>
            <a:r>
              <a:rPr lang="en-US" dirty="0"/>
              <a:t>Voice assistant support for smart interaction. </a:t>
            </a:r>
          </a:p>
          <a:p>
            <a:r>
              <a:rPr lang="en-US" dirty="0" err="1"/>
              <a:t>LeetCode</a:t>
            </a:r>
            <a:r>
              <a:rPr lang="en-US" dirty="0"/>
              <a:t> and coding platform API integration. </a:t>
            </a:r>
          </a:p>
          <a:p>
            <a:r>
              <a:rPr lang="en-US" dirty="0"/>
              <a:t>Advanced Machine Learning models for performance prediction. </a:t>
            </a:r>
          </a:p>
          <a:p>
            <a:r>
              <a:rPr lang="en-US" dirty="0"/>
              <a:t>User authentication and personalized profiles. </a:t>
            </a:r>
          </a:p>
          <a:p>
            <a:r>
              <a:rPr lang="en-US" dirty="0"/>
              <a:t>Mobile application support for better accessibility. </a:t>
            </a:r>
          </a:p>
          <a:p>
            <a:r>
              <a:rPr lang="en-US" dirty="0"/>
              <a:t>Real-time analytics and progress monitoring. </a:t>
            </a:r>
          </a:p>
          <a:p>
            <a:endParaRPr lang="en-US" dirty="0"/>
          </a:p>
        </p:txBody>
      </p:sp>
    </p:spTree>
    <p:extLst>
      <p:ext uri="{BB962C8B-B14F-4D97-AF65-F5344CB8AC3E}">
        <p14:creationId xmlns:p14="http://schemas.microsoft.com/office/powerpoint/2010/main" val="3642557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E2986-8CE8-C997-9D06-99596DB7BA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9DD2F27-F6DF-5165-6D5D-AA1051BD1A3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786667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731</Words>
  <Application>Microsoft Office PowerPoint</Application>
  <PresentationFormat>Widescreen</PresentationFormat>
  <Paragraphs>101</Paragraphs>
  <Slides>17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AI STUDY AND PLACEMENT PLANNER </vt:lpstr>
      <vt:lpstr>INTRODUCTION </vt:lpstr>
      <vt:lpstr>PROBLEM STATEMENT</vt:lpstr>
      <vt:lpstr>AIM </vt:lpstr>
      <vt:lpstr>EXISTING SYSYEM</vt:lpstr>
      <vt:lpstr>PROPOSED SYSTEM</vt:lpstr>
      <vt:lpstr>TECHNOLOGIES USED</vt:lpstr>
      <vt:lpstr>SYSTEM ARCHITECTURE</vt:lpstr>
      <vt:lpstr>MODELS AND FEATURES</vt:lpstr>
      <vt:lpstr>AI/ML WORKING</vt:lpstr>
      <vt:lpstr> </vt:lpstr>
      <vt:lpstr>Workflow / Project Flow </vt:lpstr>
      <vt:lpstr>UI</vt:lpstr>
      <vt:lpstr>PowerPoint Presentation</vt:lpstr>
      <vt:lpstr>ADVANTAGES</vt:lpstr>
      <vt:lpstr>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nancy ajmeri</dc:creator>
  <cp:lastModifiedBy>nancy ajmeri</cp:lastModifiedBy>
  <cp:revision>1</cp:revision>
  <dcterms:created xsi:type="dcterms:W3CDTF">2026-05-21T13:59:54Z</dcterms:created>
  <dcterms:modified xsi:type="dcterms:W3CDTF">2026-05-21T14:24:32Z</dcterms:modified>
</cp:coreProperties>
</file>